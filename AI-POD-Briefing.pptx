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Opening. I'm not here to prove the platform is clever — I'm here to show that a regulated bank can run its own models, on its own floor, under its own governance, and that the R&amp;D was money well spent. Everything in this talk is built so the true thing is simple to say, with a second and third layer ready if you pull the thread.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the thesis first, then walk the three parts. The room should leave knowing the point is not 'we ran a model' — it's 'we built a place teams can build on.'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five technical topics. For each: the concept plainly, why we chose it for our box, the honest trade-off, and the answer for whoever raises a hand.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model is just weights; the runtime loads them, batches requests, runs the math, streams tokens. NIM is a packaged, pre-tuned, vendor-supported runtime shipped as a container. Alternatives were real: raw vLLM, TGI, Triton, Ollama. The honest framing is NOT 'NIM is faster than vLLM' — under the hood it largely IS vLLM, so throughput is roughly at parity. What NIM sells is everything around the engine: hardware-aware config, a container that clears a security bar, and a vendor who owns vulnerability response. Lock-in is bounded — the API is OpenAI-compatible and the weights are open.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When people ask 'what did we deploy,' they picture a model file. It's more: an OpenAI-compatible API server, an orchestration layer, a model-management layer that picks a hardware-aware profile and fetches weights, the inference engine, all on a hardened, signed base with a bill of materials. Key nuance: the weights aren't baked in — the container and the model are two governed artifacts, which matters for how we scan, sign and admit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explains the 'pause, then pour.' Prefill reads the entire prompt in parallel, writing a KV cache into GPU memory — compute-bound, and its length IS your time-to-first-token. Decode then generates one token at a time, reading the cache instead of re-reading the prompt — memory-bandwidth-bound. Without the cache, cost would be quadratic; with it, roughly linear. The cache lives in the same 48 GB as the model — which is why memory is the number we design around.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Choosing a family is choosing trade-offs among quality, license, size, and fit to our box. Nemotron gives us open weights and unusual data transparency (recipes and much of the pretraining data published), first-class tuning in the NIM catalog, and a full stack: a chat/agentic model on GPU-1, and parse + embed + rerank on GPU-2. One jointly-tuned family keeps evaluation and upgrades simple. Fit-to-constraint beats raw leaderboard rank on a fixed two-GPU box.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How we consume the model is itself a governance decision. A feature branch moves fast — monthly, APIs can change. A production branch gives a nine-month window with monthly security backports into that same branch and stable APIs; an LTS branch goes years. Pinning Nemotron Nano to a production branch is what lets us say we run a version that's supported and patched in place. Confirm on NGC that the specific NIM we pin carries the production-branch tag.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NVIDIA offers Government Ready container variants aimed at FedRAMP-High-type sovereign use cases: a STIG-hardened Ubuntu base and FIPS 140-3 validated crypto. That's a real hardening posture. The line to hold precisely: STIG + FIPS is container/crypto hardening — NOT a NIST AI RMF certification, and 'FedRAMP-High use cases' is not a FedRAMP authorization. The AI RMF is the govern-map-measure-manage process we run around the model. Claim the hardening NVIDIA provides; claim the AI RMF work as ours. Conflating them is the one thing that could get me caught.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Dense: every parameter participates in every token. MoE splits much of the network into experts and adds a router that picks a few per token; the rest sit idle. So a model can hold 30B total but activate ~3B per token. The router is trained jointly with the model.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two numbers people confuse are the whole story. Memory is set by total parameters — every expert must be resident in VRAM. Compute per token is set by active parameters. So MoE buys speed and concurrency, not a smaller footprint. Correct the common trap cleanly: MoE does NOT save memory. Its advantage shows up under concurrency — many lightweight agents — which is exactly our roadmap.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a fair heckle, so have the math ready. Our chat model, Nemotron 3 Nano, is a 30B-total / ~3B-active MoE (6 of 129 experts). In full precision the weights alone are ~60 GB — would not fit. Quantized: FP8 ~34 GB (fits, ~10 GB for cache), NVFP4 ~16 GB (fits comfortably, ~30 GB free). Say 'quantized 30B on one card,' not '30B fits 48 GB' flatly — and confirm which precision we actually pinned.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Replace a raw count with an assessed risk. SBOM: what's inside. Scan: which CVEs match. VEX (Vulnerability Exploitability eXchange): a machine-readable vendor statement that a CVE is present but not exploitable here — patched, unreachable path, or false positive. Signature: proves the image is untampered. NVIDIA blocks Critical/High at publish, scans continuously, and ships all of this. VEX is an input to our own InfoSec SBOM review — not a replacement for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'money well spent' turn. Proving we could run this forced capabilities the whole platform now inherits. Say it as leverage, not a victory lap.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Getting a vendor GPU container in safely meant answering 'how does any image enter, and who vouches for it?' The answer is now general: one controlled egress, scan + SBOM on the way in, approval requiring BOTH Architecture and InfoSec after reviewing the bill of materials, and signing every image so the cluster verifies provenance at admission. It's registry-agnostic, so it survives GitLab-to-GitHub. Nobody pulls a public container directly anymore.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platform you can't rebuild from a file is a pet, not a platform. Three distinct layers a mixed room will conflate: Terraform (infrastructure — what exists), Ansible (configuration — how hosts are set up), Helm (cluster apps — what runs, as a versioned release). The payoff is auditability and repeatability — exactly what a regulated shop is asked to demonstrate. No snowflake servers, no click-ops.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claim appears in NVIDIA's own materials and is overstated if repeated as 'the whole corpus.' For the Nano-class dataset, ~6.6T tokens released against ~20T trained on — about a third — framed as 'the majority of the data.' Roughly two-thirds proprietary, and a mix of curated web, code and synthetic — not purely synthetic. It's a genuine transparency advantage. Say most, never all.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Turn the room forward. The POD proved models can run in production; the next phase makes the platform something teams build on. Candor about what's still being designed is credibility.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 'can it run' answered, next are the load-bearing pieces: gateway, guardrails, eval, identity (foundation). The known unknowns — capacity, HA, data classification — are named and owned, not solved yet, and saying so is a strength. Enforced admission turns SBOM/scan/sign into a policy the cluster enforces. Stateless workloads make growth routine. Each is a deliberate next step.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closing idea. Everything adds up to one shift: treat the infrastructure as a model host, so teams build AI the way they already build applications — Spring AI, a standard API, on our floor, under our governance. A good platform disappears into the background. That's the sentence I want the room to leave with.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Land here. Then open for questions — the appendix material (memory math, VEX, branches) is in the earlier slides if anyone pulls a thread.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Relationship Id="rId4" Type="http://schemas.openxmlformats.org/officeDocument/2006/relationships/image" Target="../media/image-4-1.svg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Relationship Id="rId4" Type="http://schemas.openxmlformats.org/officeDocument/2006/relationships/image" Target="../media/image-5-1.svg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Relationship Id="rId4" Type="http://schemas.openxmlformats.org/officeDocument/2006/relationships/image" Target="../media/image-6-1.svg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Relationship Id="rId4" Type="http://schemas.openxmlformats.org/officeDocument/2006/relationships/image" Target="../media/image-7-1.svg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Relationship Id="rId4" Type="http://schemas.openxmlformats.org/officeDocument/2006/relationships/image" Target="../media/image-8-1.svg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Relationship Id="rId4" Type="http://schemas.openxmlformats.org/officeDocument/2006/relationships/image" Target="../media/image-9-1.svg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Relationship Id="rId4" Type="http://schemas.openxmlformats.org/officeDocument/2006/relationships/image" Target="../media/image-10-1.svg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Relationship Id="rId4" Type="http://schemas.openxmlformats.org/officeDocument/2006/relationships/image" Target="../media/image-11-1.svg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Relationship Id="rId4" Type="http://schemas.openxmlformats.org/officeDocument/2006/relationships/image" Target="../media/image-12-1.svg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Relationship Id="rId4" Type="http://schemas.openxmlformats.org/officeDocument/2006/relationships/image" Target="../media/image-13-1.sv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Relationship Id="rId4" Type="http://schemas.openxmlformats.org/officeDocument/2006/relationships/image" Target="../media/image-15-1.svg"/></Relationships>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Relationship Id="rId4" Type="http://schemas.openxmlformats.org/officeDocument/2006/relationships/image" Target="../media/image-16-1.svg"/></Relationships>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Relationship Id="rId4" Type="http://schemas.openxmlformats.org/officeDocument/2006/relationships/image" Target="../media/image-17-1.sv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Relationship Id="rId4" Type="http://schemas.openxmlformats.org/officeDocument/2006/relationships/image" Target="../media/image-19-1.svg"/></Relationships>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Relationship Id="rId4" Type="http://schemas.openxmlformats.org/officeDocument/2006/relationships/image" Target="../media/image-20-1.sv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5544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BFB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POD  ·  AIMWG SYSTEM-WIDE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01168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AI POD, From the Metal Up</a:t>
            </a:r>
            <a:endParaRPr lang="en-US" sz="48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383280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D9D9D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we run our own models on our own floor — the runtime, the model, the memory math, the supply chain, and what comes next.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841248" y="4617720"/>
            <a:ext cx="2926080" cy="0"/>
          </a:xfrm>
          <a:prstGeom prst="line">
            <a:avLst/>
          </a:prstGeom>
          <a:noFill/>
          <a:ln w="12700">
            <a:solidFill>
              <a:srgbClr val="5A5A5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47548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6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Harsha Vegesri  ·  Principal AI Architect, AIIM  ·  FHLB Des Moines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ONE-LINE THESIS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11064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turned a two-GPU appliance into a governed model-hosting platform — so our teams build AI the same way they build every other application, without a token leaving the building.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2743200"/>
            <a:ext cx="3566160" cy="2834640"/>
          </a:xfrm>
          <a:prstGeom prst="rect">
            <a:avLst/>
          </a:prstGeom>
          <a:solidFill>
            <a:srgbClr val="1A1A1A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04672" y="299923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BFB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ONE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804672" y="3310128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Engine Room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804672" y="4297680"/>
            <a:ext cx="305409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9D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Runtime, model, memory, and the scan — why each choice is what it is.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98264" y="2743200"/>
            <a:ext cx="3566160" cy="2834640"/>
          </a:xfrm>
          <a:prstGeom prst="rect">
            <a:avLst/>
          </a:prstGeom>
          <a:solidFill>
            <a:srgbClr val="F4F4F2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654296" y="299923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TWO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4654296" y="3310128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R&amp;D Bought Us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4654296" y="4297680"/>
            <a:ext cx="305409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chain, container expansion, infrastructure as code.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247888" y="2743200"/>
            <a:ext cx="3566160" cy="2834640"/>
          </a:xfrm>
          <a:prstGeom prst="rect">
            <a:avLst/>
          </a:prstGeom>
          <a:solidFill>
            <a:srgbClr val="F4F4F2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503920" y="299923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THREE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8503920" y="3310128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Next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8503920" y="4297680"/>
            <a:ext cx="305409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tech, admission, stateless workloads, the platform as model host.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11430000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4688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ONE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88036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Engine Room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11430000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2062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ONE · 01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NIM is our runtime</a:t>
            </a:r>
            <a:endParaRPr lang="en-US" sz="30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8640" y="1613630"/>
            <a:ext cx="11091672" cy="346614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5376672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didn't buy speed — under the hood NIM is largely vLLM. We bought the tuning, hardening, and support our small team didn't have to build.</a:t>
            </a:r>
            <a:endParaRPr lang="en-US" sz="1450" dirty="0"/>
          </a:p>
        </p:txBody>
      </p:sp>
      <p:sp>
        <p:nvSpPr>
          <p:cNvPr id="6" name="Text 3"/>
          <p:cNvSpPr txBox="1"/>
          <p:nvPr/>
        </p:nvSpPr>
        <p:spPr>
          <a:xfrm>
            <a:off x="11430000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2062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ONE · 04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inside a NIM container</a:t>
            </a:r>
            <a:endParaRPr lang="en-US" sz="30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91202" y="1517904"/>
            <a:ext cx="10406549" cy="384048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5559552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a self-contained serving stack — and the weights are a separate governed artifact, pulled at first start from our internal registry.</a:t>
            </a:r>
            <a:endParaRPr lang="en-US" sz="1450" dirty="0"/>
          </a:p>
        </p:txBody>
      </p:sp>
      <p:sp>
        <p:nvSpPr>
          <p:cNvPr id="6" name="Text 3"/>
          <p:cNvSpPr txBox="1"/>
          <p:nvPr/>
        </p:nvSpPr>
        <p:spPr>
          <a:xfrm>
            <a:off x="11430000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2062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ONE · 04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prompt to the first token</a:t>
            </a:r>
            <a:endParaRPr lang="en-US" sz="30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726314" y="1517904"/>
            <a:ext cx="8736324" cy="402336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5742432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Prefill reads the whole prompt at once and fills the KV cache — that pause is time-to-first-token. Decode then streams, reusing the cache.</a:t>
            </a:r>
            <a:endParaRPr lang="en-US" sz="1450" dirty="0"/>
          </a:p>
        </p:txBody>
      </p:sp>
      <p:sp>
        <p:nvSpPr>
          <p:cNvPr id="6" name="Text 3"/>
          <p:cNvSpPr txBox="1"/>
          <p:nvPr/>
        </p:nvSpPr>
        <p:spPr>
          <a:xfrm>
            <a:off x="11430000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2062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ONE · 02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the Nemotron family</a:t>
            </a:r>
            <a:endParaRPr lang="en-US" sz="30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8640" y="1576313"/>
            <a:ext cx="11091672" cy="372366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5559552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weights we can inspect, tuned for the runtime we run, and a whole pipeline — reasoning, parsing, embedding, reranking — from one family.</a:t>
            </a:r>
            <a:endParaRPr lang="en-US" sz="1450" dirty="0"/>
          </a:p>
        </p:txBody>
      </p:sp>
      <p:sp>
        <p:nvSpPr>
          <p:cNvPr id="6" name="Text 3"/>
          <p:cNvSpPr txBox="1"/>
          <p:nvPr/>
        </p:nvSpPr>
        <p:spPr>
          <a:xfrm>
            <a:off x="11430000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2062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ONE · 02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Nemotron Nano on a production branch</a:t>
            </a:r>
            <a:endParaRPr lang="en-US" sz="30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87298" y="1517904"/>
            <a:ext cx="10614355" cy="36576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5376672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regulated-shop choice: a supported branch patched in place with stable APIs — not one we chase forward every month to stay secure.</a:t>
            </a:r>
            <a:endParaRPr lang="en-US" sz="1450" dirty="0"/>
          </a:p>
        </p:txBody>
      </p:sp>
      <p:sp>
        <p:nvSpPr>
          <p:cNvPr id="6" name="Text 3"/>
          <p:cNvSpPr txBox="1"/>
          <p:nvPr/>
        </p:nvSpPr>
        <p:spPr>
          <a:xfrm>
            <a:off x="11430000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2062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ONE · 02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'government-ready' posture — precisely</a:t>
            </a:r>
            <a:endParaRPr lang="en-US" sz="30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8640" y="1905722"/>
            <a:ext cx="11091672" cy="306484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5559552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STIG-hardened base + FIPS 140-3 crypto is real, checkable hardening. It is not a NIST AI RMF certification — that framework is our process.</a:t>
            </a:r>
            <a:endParaRPr lang="en-US" sz="1450" dirty="0"/>
          </a:p>
        </p:txBody>
      </p:sp>
      <p:sp>
        <p:nvSpPr>
          <p:cNvPr id="6" name="Text 3"/>
          <p:cNvSpPr txBox="1"/>
          <p:nvPr/>
        </p:nvSpPr>
        <p:spPr>
          <a:xfrm>
            <a:off x="11430000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2062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ONE · 03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mixture-of-experts over dense</a:t>
            </a:r>
            <a:endParaRPr lang="en-US" sz="30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690726" y="1517904"/>
            <a:ext cx="8807501" cy="39319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5650992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dense model runs every parameter each token. MoE routes each token to a few experts — same knowledge, far less compute per step.</a:t>
            </a:r>
            <a:endParaRPr lang="en-US" sz="1450" dirty="0"/>
          </a:p>
        </p:txBody>
      </p:sp>
      <p:sp>
        <p:nvSpPr>
          <p:cNvPr id="6" name="Text 3"/>
          <p:cNvSpPr txBox="1"/>
          <p:nvPr/>
        </p:nvSpPr>
        <p:spPr>
          <a:xfrm>
            <a:off x="11430000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2062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ONE · 03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MoE trade — two different bills</a:t>
            </a:r>
            <a:endParaRPr lang="en-US" sz="30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70768" y="1517904"/>
            <a:ext cx="11047415" cy="36576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5376672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is set by TOTAL parameters; compute by ACTIVE. MoE saves compute per token — it does not save memory. Every expert stays resident.</a:t>
            </a:r>
            <a:endParaRPr lang="en-US" sz="1450" dirty="0"/>
          </a:p>
        </p:txBody>
      </p:sp>
      <p:sp>
        <p:nvSpPr>
          <p:cNvPr id="6" name="Text 3"/>
          <p:cNvSpPr txBox="1"/>
          <p:nvPr/>
        </p:nvSpPr>
        <p:spPr>
          <a:xfrm>
            <a:off x="11430000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2062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ONE · 03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Does 30B fit one 48 GB card?</a:t>
            </a:r>
            <a:endParaRPr lang="en-US" sz="30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8640" y="1664782"/>
            <a:ext cx="11091672" cy="3546725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5559552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quantized. At full precision the weights alone are ~60 GB. We run a quantized build — FP8 fits tightly, NVFP4 comfortably.</a:t>
            </a:r>
            <a:endParaRPr lang="en-US" sz="1450" dirty="0"/>
          </a:p>
        </p:txBody>
      </p:sp>
      <p:sp>
        <p:nvSpPr>
          <p:cNvPr id="6" name="Text 3"/>
          <p:cNvSpPr txBox="1"/>
          <p:nvPr/>
        </p:nvSpPr>
        <p:spPr>
          <a:xfrm>
            <a:off x="11430000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2062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ONE · 05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Reading the scan — SBOM, CVEs, VEX</a:t>
            </a:r>
            <a:endParaRPr lang="en-US" sz="30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533906" y="1517904"/>
            <a:ext cx="9121140" cy="384048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5559552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scan gives a number; we govern to risk. SBOM says what's inside, VEX says which findings are actually exploitable, the signature proves provenance.</a:t>
            </a:r>
            <a:endParaRPr lang="en-US" sz="1450" dirty="0"/>
          </a:p>
        </p:txBody>
      </p:sp>
      <p:sp>
        <p:nvSpPr>
          <p:cNvPr id="6" name="Text 3"/>
          <p:cNvSpPr txBox="1"/>
          <p:nvPr/>
        </p:nvSpPr>
        <p:spPr>
          <a:xfrm>
            <a:off x="11430000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4688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TWO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88036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R&amp;D Bought Us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11430000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2062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TWO · 06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software supply chain we control</a:t>
            </a:r>
            <a:endParaRPr lang="en-US" sz="30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8640" y="2129337"/>
            <a:ext cx="11091672" cy="243473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5376672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run one AI container safely we had to answer how ANY container gets in. That answer is now how the whole bank sources images.</a:t>
            </a:r>
            <a:endParaRPr lang="en-US" sz="1450" dirty="0"/>
          </a:p>
        </p:txBody>
      </p:sp>
      <p:sp>
        <p:nvSpPr>
          <p:cNvPr id="6" name="Text 3"/>
          <p:cNvSpPr txBox="1"/>
          <p:nvPr/>
        </p:nvSpPr>
        <p:spPr>
          <a:xfrm>
            <a:off x="11430000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2062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TWO · 08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Infrastructure as code</a:t>
            </a:r>
            <a:endParaRPr lang="en-US" sz="30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46812" y="1517904"/>
            <a:ext cx="9695328" cy="39319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5650992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says what exists, Ansible how it's configured, Helm what runs on the cluster — all versioned, so the platform is provable, not remembered.</a:t>
            </a:r>
            <a:endParaRPr lang="en-US" sz="1450" dirty="0"/>
          </a:p>
        </p:txBody>
      </p:sp>
      <p:sp>
        <p:nvSpPr>
          <p:cNvPr id="6" name="Text 3"/>
          <p:cNvSpPr txBox="1"/>
          <p:nvPr/>
        </p:nvSpPr>
        <p:spPr>
          <a:xfrm>
            <a:off x="11430000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2062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TWO · PRESSURE-TEST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 the training data really open?</a:t>
            </a:r>
            <a:endParaRPr lang="en-US" sz="30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4237" y="1517904"/>
            <a:ext cx="10040478" cy="36576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5376672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Most, not all. NVIDIA publishes several trillion tokens — more than any closed vendor — but a majority-by-their-accounting still leaves ~two-thirds undisclosed.</a:t>
            </a:r>
            <a:endParaRPr lang="en-US" sz="1450" dirty="0"/>
          </a:p>
        </p:txBody>
      </p:sp>
      <p:sp>
        <p:nvSpPr>
          <p:cNvPr id="6" name="Text 3"/>
          <p:cNvSpPr txBox="1"/>
          <p:nvPr/>
        </p:nvSpPr>
        <p:spPr>
          <a:xfrm>
            <a:off x="11430000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4688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THREE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88036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Next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11430000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2062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THREE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next — from 'it runs' to 'built on'</a:t>
            </a:r>
            <a:endParaRPr lang="en-US" sz="30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8640" y="1926443"/>
            <a:ext cx="11091672" cy="284052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5376672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tech, the named known-unknowns, enforced admission, stateless workloads — each a deliberate step, some still in design.</a:t>
            </a:r>
            <a:endParaRPr lang="en-US" sz="1450" dirty="0"/>
          </a:p>
        </p:txBody>
      </p:sp>
      <p:sp>
        <p:nvSpPr>
          <p:cNvPr id="6" name="Text 3"/>
          <p:cNvSpPr txBox="1"/>
          <p:nvPr/>
        </p:nvSpPr>
        <p:spPr>
          <a:xfrm>
            <a:off x="11430000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2062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THREE · 13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platform as a model host</a:t>
            </a:r>
            <a:endParaRPr lang="en-US" sz="30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8640" y="1994061"/>
            <a:ext cx="11091672" cy="270528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5376672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Java/Spring team calls a model through Spring AI like any other service — no new stack, no data leaving the building. The platform disappears.</a:t>
            </a:r>
            <a:endParaRPr lang="en-US" sz="1450" dirty="0"/>
          </a:p>
        </p:txBody>
      </p:sp>
      <p:sp>
        <p:nvSpPr>
          <p:cNvPr id="6" name="Text 3"/>
          <p:cNvSpPr txBox="1"/>
          <p:nvPr/>
        </p:nvSpPr>
        <p:spPr>
          <a:xfrm>
            <a:off x="11430000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2860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LANDING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743200"/>
            <a:ext cx="104241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“We set out to run a model. What we built is a place our own teams can build AI the way they build everything else — on our floor, under our governance, in the language they already speak.”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1430000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2026-09-25T02:20:47Z</dcterms:created>
  <dcterms:modified xsi:type="dcterms:W3CDTF">2026-09-25T02:20:47Z</dcterms:modified>
</cp:coreProperties>
</file>